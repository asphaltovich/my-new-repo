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4" r:id="rId9"/>
    <p:sldId id="266" r:id="rId10"/>
    <p:sldId id="267" r:id="rId11"/>
    <p:sldId id="273" r:id="rId12"/>
    <p:sldId id="268" r:id="rId13"/>
    <p:sldId id="269" r:id="rId14"/>
    <p:sldId id="274" r:id="rId15"/>
    <p:sldId id="275" r:id="rId16"/>
    <p:sldId id="276" r:id="rId17"/>
    <p:sldId id="277" r:id="rId18"/>
    <p:sldId id="278" r:id="rId19"/>
    <p:sldId id="270" r:id="rId20"/>
    <p:sldId id="279" r:id="rId21"/>
    <p:sldId id="280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84E0E-44BF-419B-879A-1499F71E4B94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BBE07-90D4-4251-A2EE-C3BB70D38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2813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84E0E-44BF-419B-879A-1499F71E4B94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BBE07-90D4-4251-A2EE-C3BB70D38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2610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84E0E-44BF-419B-879A-1499F71E4B94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BBE07-90D4-4251-A2EE-C3BB70D38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6597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84E0E-44BF-419B-879A-1499F71E4B94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BBE07-90D4-4251-A2EE-C3BB70D38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6911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84E0E-44BF-419B-879A-1499F71E4B94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BBE07-90D4-4251-A2EE-C3BB70D38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5024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84E0E-44BF-419B-879A-1499F71E4B94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BBE07-90D4-4251-A2EE-C3BB70D38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82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84E0E-44BF-419B-879A-1499F71E4B94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BBE07-90D4-4251-A2EE-C3BB70D38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043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84E0E-44BF-419B-879A-1499F71E4B94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BBE07-90D4-4251-A2EE-C3BB70D38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0642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84E0E-44BF-419B-879A-1499F71E4B94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BBE07-90D4-4251-A2EE-C3BB70D38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0696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84E0E-44BF-419B-879A-1499F71E4B94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BBE07-90D4-4251-A2EE-C3BB70D38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3498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84E0E-44BF-419B-879A-1499F71E4B94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BBE07-90D4-4251-A2EE-C3BB70D38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1990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84E0E-44BF-419B-879A-1499F71E4B94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BBE07-90D4-4251-A2EE-C3BB70D38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5694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2197"/>
          </a:xfrm>
        </p:spPr>
        <p:txBody>
          <a:bodyPr>
            <a:noAutofit/>
          </a:bodyPr>
          <a:lstStyle/>
          <a:p>
            <a:r>
              <a:rPr lang="ru-RU" sz="1600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 БЮДЖЕТНОЕ ПРОФЕССИОНАЛЬНОЕ ОБРАЗОВАТЕЛЬНОЕ УЧРЕЖДЕНИЕ РЕСПУБЛИКИ ХАКАСИЯ 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«ХАКАССКИЙ ПОЛИТЕХНИЧЕСКИЙ КОЛЛЕДЖ»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Специальность 09.02.07 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«Информационные системы и программирование»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одзаголовок 6"/>
          <p:cNvSpPr>
            <a:spLocks noGrp="1"/>
          </p:cNvSpPr>
          <p:nvPr>
            <p:ph type="subTitle" idx="1"/>
          </p:nvPr>
        </p:nvSpPr>
        <p:spPr>
          <a:xfrm>
            <a:off x="1596571" y="1954666"/>
            <a:ext cx="9144000" cy="4750934"/>
          </a:xfrm>
        </p:spPr>
        <p:txBody>
          <a:bodyPr>
            <a:normAutofit fontScale="55000" lnSpcReduction="20000"/>
          </a:bodyPr>
          <a:lstStyle/>
          <a:p>
            <a:r>
              <a:rPr lang="ru-RU" dirty="0"/>
              <a:t> </a:t>
            </a:r>
          </a:p>
          <a:p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</a:t>
            </a:r>
          </a:p>
          <a:p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учебной практике</a:t>
            </a:r>
          </a:p>
          <a:p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профессиональному модулю</a:t>
            </a:r>
          </a:p>
          <a:p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ПМ.02 </a:t>
            </a:r>
            <a:r>
              <a:rPr lang="ru-RU" sz="4400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ОСУЩЕСТВЛЕНИЕ ИНТЕГРАЦИИ ПРОГРАММНЫХ МОДУЛЕЙ</a:t>
            </a:r>
            <a:endParaRPr 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Руководитель:</a:t>
            </a:r>
          </a:p>
          <a:p>
            <a:pPr algn="l"/>
            <a:r>
              <a:rPr lang="ru-RU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</a:t>
            </a:r>
            <a:r>
              <a:rPr lang="ru-RU" sz="4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Головина.Е.А</a:t>
            </a:r>
            <a:endParaRPr lang="ru-RU" sz="4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Выполнил:</a:t>
            </a:r>
          </a:p>
          <a:p>
            <a:pPr algn="l"/>
            <a:r>
              <a:rPr lang="ru-RU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Студент Группы ТП-31</a:t>
            </a:r>
          </a:p>
          <a:p>
            <a:pPr algn="l"/>
            <a:r>
              <a:rPr lang="ru-RU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</a:t>
            </a:r>
            <a:r>
              <a:rPr lang="ru-RU" sz="4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Брытчиков</a:t>
            </a:r>
            <a:r>
              <a:rPr lang="ru-RU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Артём</a:t>
            </a:r>
          </a:p>
        </p:txBody>
      </p:sp>
    </p:spTree>
    <p:extLst>
      <p:ext uri="{BB962C8B-B14F-4D97-AF65-F5344CB8AC3E}">
        <p14:creationId xmlns:p14="http://schemas.microsoft.com/office/powerpoint/2010/main" val="1228903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2C3AA1-4DB7-E789-F3F4-4642D05EA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612BD8-EBCB-D8AB-70EF-1D4515E0C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Кредиты: потребительские кредиты, образовательные кредиты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ипотеч-ные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кредиты, кредитные карты, рефинансирование.</a:t>
            </a:r>
          </a:p>
          <a:p>
            <a:pPr marL="0" indent="0" algn="just">
              <a:buNone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Вклады: срочные вклады, сберегательный сертификат, вклады онлайн, вклады для расчетов, выплаты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асьв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компенсация по вкладам, розыск счетов, специальные (рублевые) счета.</a:t>
            </a:r>
          </a:p>
          <a:p>
            <a:pPr marL="0" indent="0" algn="just">
              <a:buNone/>
            </a:pP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168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426EEB-1016-28AC-320D-B24F3A346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040" y="0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Изучение аналогов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72F6DF-9228-0BD8-7414-FC641F95E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040" y="1325563"/>
            <a:ext cx="10906760" cy="4851400"/>
          </a:xfrm>
        </p:spPr>
        <p:txBody>
          <a:bodyPr>
            <a:normAutofit fontScale="92500"/>
          </a:bodyPr>
          <a:lstStyle/>
          <a:p>
            <a:pPr marL="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Альфа-Банк 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Перечислим основные цифровые услуги, предоставляемые Альфа-Банком. К ним от-носятся цифровые банковские услуги, которые позволяют клиентам осуществлять платежи, переводы, управлять своими счетами и кредитами через мобильное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прило-жение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интернет-банк. 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C924C70A-6944-F07D-08EF-5DE25EACFA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354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D15EEB9-BE7B-1EA2-C46F-B47175006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640" y="443864"/>
            <a:ext cx="10515600" cy="5652136"/>
          </a:xfrm>
        </p:spPr>
        <p:txBody>
          <a:bodyPr>
            <a:noAutofit/>
          </a:bodyPr>
          <a:lstStyle/>
          <a:p>
            <a:pPr marL="0" lvl="0" indent="0" algn="just">
              <a:lnSpc>
                <a:spcPct val="150000"/>
              </a:lnSpc>
              <a:buNone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Тинькофф-Банк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сегодня банк предлагает следующие продукты для физических лиц: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банковские карты, дебетовые и кредитные;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вклады;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кредиты, в том числе и ипотека.</a:t>
            </a:r>
          </a:p>
          <a:p>
            <a:pPr marL="0" lvl="0" indent="0" algn="just">
              <a:lnSpc>
                <a:spcPct val="150000"/>
              </a:lnSpc>
              <a:buNone/>
            </a:pP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080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0C007B1-63C3-3D01-EFF0-4BEADA73E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760" y="708025"/>
            <a:ext cx="1144524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ВТБ-Банк</a:t>
            </a:r>
          </a:p>
          <a:p>
            <a:pPr marL="0" indent="0">
              <a:buNone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Розничный бизнес: обслуживание физических лиц, включая кредитование, депозиты, карточные продукты и страхование.</a:t>
            </a:r>
          </a:p>
          <a:p>
            <a:pPr marL="0" indent="0">
              <a:buNone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Корпоративно-инвестиционный бизнес: комплексные решения для ИП и юридических лиц любого масштаба.</a:t>
            </a:r>
          </a:p>
          <a:p>
            <a:pPr marL="0" indent="0">
              <a:buNone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Операции на финансовых рынках: торговля валютой, ценными бумага-ми, цифровыми финансовыми активами.</a:t>
            </a:r>
          </a:p>
          <a:p>
            <a:pPr marL="0" indent="0">
              <a:buNone/>
            </a:pP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854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A0A8D2-66DD-AC41-06D7-D26A4DAFD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057" y="586005"/>
            <a:ext cx="10808812" cy="591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69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D8E3329-3FA5-A547-6944-C0EA5A3E3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12556" y="473864"/>
            <a:ext cx="8166888" cy="59102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818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Изображение4">
            <a:extLst>
              <a:ext uri="{FF2B5EF4-FFF2-40B4-BE49-F238E27FC236}">
                <a16:creationId xmlns:a16="http://schemas.microsoft.com/office/drawing/2014/main" id="{57DF0A20-6540-870E-46D5-10FD841ED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5907" y="310197"/>
            <a:ext cx="4772025" cy="3819525"/>
          </a:xfrm>
          <a:prstGeom prst="rect">
            <a:avLst/>
          </a:prstGeom>
          <a:noFill/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79155EB-755D-111A-809C-5D823371A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290627" y="310197"/>
            <a:ext cx="4772025" cy="38195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79279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995FAB6-95D9-3C75-9947-77B57C12A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61464" y="78724"/>
            <a:ext cx="8486775" cy="67792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76036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Изображение5">
            <a:extLst>
              <a:ext uri="{FF2B5EF4-FFF2-40B4-BE49-F238E27FC236}">
                <a16:creationId xmlns:a16="http://schemas.microsoft.com/office/drawing/2014/main" id="{3EA7140F-AD32-B1CE-E622-BFF421605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37284" y="262890"/>
            <a:ext cx="9429115" cy="62721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47038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Изображение6">
            <a:extLst>
              <a:ext uri="{FF2B5EF4-FFF2-40B4-BE49-F238E27FC236}">
                <a16:creationId xmlns:a16="http://schemas.microsoft.com/office/drawing/2014/main" id="{9E3CCBB3-6231-FCE4-5C4C-B10CF333C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87670" y="690880"/>
            <a:ext cx="2108330" cy="574169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28775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Изображение3">
            <a:extLst>
              <a:ext uri="{FF2B5EF4-FFF2-40B4-BE49-F238E27FC236}">
                <a16:creationId xmlns:a16="http://schemas.microsoft.com/office/drawing/2014/main" id="{DB93A686-BDD8-37CC-5567-91D4044E8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70542" y="0"/>
            <a:ext cx="4529137" cy="66010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17606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Изображение7">
            <a:extLst>
              <a:ext uri="{FF2B5EF4-FFF2-40B4-BE49-F238E27FC236}">
                <a16:creationId xmlns:a16="http://schemas.microsoft.com/office/drawing/2014/main" id="{2519C1D1-8AEE-7E7F-B2AC-050887773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1861" y="746284"/>
            <a:ext cx="11328278" cy="536543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01322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4714B80-EBA8-0DE9-31C3-173E41AACC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42" y="133721"/>
            <a:ext cx="10953115" cy="659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087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2B4FC9-6A35-D089-5BAC-8170FB450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295" y="908558"/>
            <a:ext cx="9894873" cy="483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788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AD6695D-938A-11AA-DEC1-63C99C7CB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238" y="0"/>
            <a:ext cx="51515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017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5B9C9C-60D8-80A9-6658-A7784114C084}"/>
              </a:ext>
            </a:extLst>
          </p:cNvPr>
          <p:cNvSpPr txBox="1"/>
          <p:nvPr/>
        </p:nvSpPr>
        <p:spPr>
          <a:xfrm>
            <a:off x="243840" y="269190"/>
            <a:ext cx="11816080" cy="6477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1. Авторизация и доступ к личному кабинету</a:t>
            </a:r>
            <a:endParaRPr lang="ru-RU" sz="2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2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Открыть страницу входа (sberbank.ru).</a:t>
            </a:r>
            <a:endParaRPr lang="ru-RU" sz="2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2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Ввести валидный логин (номер телефона или логин). / Ввести верный пароль или код из СМС/</a:t>
            </a:r>
            <a:r>
              <a:rPr lang="ru-RU" sz="2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Push</a:t>
            </a:r>
            <a:r>
              <a:rPr lang="ru-RU" sz="2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.</a:t>
            </a:r>
            <a:endParaRPr lang="ru-RU" sz="2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2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Нажать кнопку «Войти».</a:t>
            </a:r>
            <a:endParaRPr lang="ru-RU" sz="2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2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Проверить, что пользователь успешно перенаправлен на главную страницу личного кабинета.</a:t>
            </a:r>
            <a:endParaRPr lang="ru-RU" sz="2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2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Проверить, что отображается актуальный баланс основных счетов и карт.</a:t>
            </a:r>
            <a:endParaRPr lang="ru-RU" sz="2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28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Негативный сценарий: Проверить появление ошибки при вводе неверного пароля.</a:t>
            </a:r>
            <a:endParaRPr lang="ru-RU" sz="2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713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BD6062-3522-95A4-9C8D-07DE1AC4B055}"/>
              </a:ext>
            </a:extLst>
          </p:cNvPr>
          <p:cNvSpPr txBox="1"/>
          <p:nvPr/>
        </p:nvSpPr>
        <p:spPr>
          <a:xfrm>
            <a:off x="142240" y="121920"/>
            <a:ext cx="12049760" cy="6651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sz="32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2. Проведение денежных переводов (СБП и между счетами)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32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Перейти в раздел «Переводы» или «Платежи».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32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Выбрать тип перевода (например, по номеру телефона через СБП).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32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Ввести номер получателя и сумму перевода.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32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Нажать кнопку «Перевести» или «Продолжить».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32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Проверить корректность отображения данных получателя перед подтверждением.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ru-RU" sz="32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Подтвердить операцию кодом из СМС/</a:t>
            </a:r>
            <a:r>
              <a:rPr lang="ru-RU" sz="32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Push</a:t>
            </a:r>
            <a:r>
              <a:rPr lang="ru-RU" sz="32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20444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9C1F77-0D82-F0E2-DF61-536FE57AF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1FCC24-601F-04FF-284D-2F928E99C87B}"/>
              </a:ext>
            </a:extLst>
          </p:cNvPr>
          <p:cNvSpPr txBox="1"/>
          <p:nvPr/>
        </p:nvSpPr>
        <p:spPr>
          <a:xfrm>
            <a:off x="558800" y="1330960"/>
            <a:ext cx="11338560" cy="4734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рамках проделанной работы была выполнена разработка модульной </a:t>
            </a:r>
            <a:r>
              <a:rPr lang="ru-R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инфор-мационной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системы для автоматизации процессов, связанных с управлением </a:t>
            </a:r>
            <a:r>
              <a:rPr lang="ru-RU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финан-совыми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операциями и взаимодействием с клиентами банка. </a:t>
            </a:r>
            <a:endParaRPr lang="ru-RU" dirty="0">
              <a:effectLst/>
            </a:endParaRPr>
          </a:p>
          <a:p>
            <a:pPr indent="450215" algn="just">
              <a:lnSpc>
                <a:spcPct val="150000"/>
              </a:lnSpc>
              <a:buNone/>
            </a:pP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3438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37E06F-B0DF-F728-C6B4-D931ADD3414B}"/>
              </a:ext>
            </a:extLst>
          </p:cNvPr>
          <p:cNvSpPr txBox="1"/>
          <p:nvPr/>
        </p:nvSpPr>
        <p:spPr>
          <a:xfrm>
            <a:off x="650240" y="1643856"/>
            <a:ext cx="115417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Основной целью проекта являлось создание безопасного, удобного и функционального приложения, которое обеспечит эффективное выполнение задач как для сотрудников банка, так и для его клиентов.</a:t>
            </a:r>
            <a:br>
              <a:rPr lang="ru-RU" sz="3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27708949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63E876A-0A9B-5B57-F4E1-44FA6B11B481}"/>
              </a:ext>
            </a:extLst>
          </p:cNvPr>
          <p:cNvSpPr txBox="1"/>
          <p:nvPr/>
        </p:nvSpPr>
        <p:spPr>
          <a:xfrm>
            <a:off x="431800" y="314960"/>
            <a:ext cx="11760200" cy="5809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buNone/>
            </a:pPr>
            <a:r>
              <a:rPr lang="ru-RU" sz="36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Таким образом, поставленная цель была достигнута, а все задачи, обозначенные в начале работы, успешно решены. Разработанный модуль информационной системы обладает высокой функциональностью, отвечает современным требованиям безопасности и удобства, а также предоставляет широкие возможности для дальнейшего развития.</a:t>
            </a:r>
            <a:endParaRPr lang="ru-RU" sz="3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89888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0000"/>
      </a:accent1>
      <a:accent2>
        <a:srgbClr val="ED7D31"/>
      </a:accent2>
      <a:accent3>
        <a:srgbClr val="A5A5A5"/>
      </a:accent3>
      <a:accent4>
        <a:srgbClr val="FFC000"/>
      </a:accent4>
      <a:accent5>
        <a:srgbClr val="000000"/>
      </a:accent5>
      <a:accent6>
        <a:srgbClr val="70AD47"/>
      </a:accent6>
      <a:hlink>
        <a:srgbClr val="000000"/>
      </a:hlink>
      <a:folHlink>
        <a:srgbClr val="000000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462</Words>
  <Application>Microsoft Office PowerPoint</Application>
  <PresentationFormat>Широкоэкранный</PresentationFormat>
  <Paragraphs>45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Symbol</vt:lpstr>
      <vt:lpstr>Times New Roman</vt:lpstr>
      <vt:lpstr>Тема Office</vt:lpstr>
      <vt:lpstr>ГОСУДАРСТВЕННОЕ БЮДЖЕТНОЕ ПРОФЕССИОНАЛЬНОЕ ОБРАЗОВАТЕЛЬНОЕ УЧРЕЖДЕНИЕ РЕСПУБЛИКИ ХАКАСИЯ  «ХАКАССКИЙ ПОЛИТЕХНИЧЕСКИЙ КОЛЛЕДЖ»   Специальность 09.02.07  «Информационные системы и программирование»   </vt:lpstr>
      <vt:lpstr>Анализ предметной области</vt:lpstr>
      <vt:lpstr>Изучение аналогов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Заключение</vt:lpstr>
      <vt:lpstr>Презентация PowerPoint</vt:lpstr>
      <vt:lpstr>Презентация PowerPoint</vt:lpstr>
    </vt:vector>
  </TitlesOfParts>
  <Company>khpk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lstudent</dc:creator>
  <cp:lastModifiedBy>Артём Брытчиков Администратор</cp:lastModifiedBy>
  <cp:revision>33</cp:revision>
  <dcterms:created xsi:type="dcterms:W3CDTF">2025-04-03T02:52:32Z</dcterms:created>
  <dcterms:modified xsi:type="dcterms:W3CDTF">2026-04-24T01:39:05Z</dcterms:modified>
</cp:coreProperties>
</file>